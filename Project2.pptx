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16764057" r:id="rId3"/>
    <p:sldId id="16764060" r:id="rId4"/>
    <p:sldId id="16764061" r:id="rId5"/>
    <p:sldId id="16764062" r:id="rId6"/>
    <p:sldId id="16764063" r:id="rId7"/>
    <p:sldId id="167640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43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  <a:endParaRPr lang="en-US" dirty="0"/>
          </a:p>
        </p:txBody>
      </p:sp>
      <p:sp>
        <p:nvSpPr>
          <p:cNvPr id="4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microsoft.com/office/2007/relationships/hdphoto" Target="../media/image5.wdp"/><Relationship Id="rId17" Type="http://schemas.openxmlformats.org/officeDocument/2006/relationships/image" Target="../media/image4.png"/><Relationship Id="rId16" Type="http://schemas.microsoft.com/office/2007/relationships/hdphoto" Target="../media/image3.wdp"/><Relationship Id="rId15" Type="http://schemas.openxmlformats.org/officeDocument/2006/relationships/image" Target="../media/image2.png"/><Relationship Id="rId14" Type="http://schemas.openxmlformats.org/officeDocument/2006/relationships/image" Target="../media/image1.pn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pic>
        <p:nvPicPr>
          <p:cNvPr id="1028" name="Picture 4" descr="LTIMindtree logo in transparent PNG and vectorized SVG formats"/>
          <p:cNvPicPr>
            <a:picLocks noChangeAspect="1" noChangeArrowheads="1"/>
          </p:cNvPicPr>
          <p:nvPr userDrawn="1"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rightnessContrast bright="-200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/>
          <p:cNvSpPr txBox="1"/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/>
          <p:cNvSpPr txBox="1"/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/>
          <p:cNvSpPr txBox="1"/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microsoft.com/office/2007/relationships/hdphoto" Target="../media/image8.wdp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  <a:endParaRPr lang="en-US" sz="44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  <a:endParaRPr lang="en-US" sz="2000" dirty="0">
              <a:solidFill>
                <a:schemeClr val="bg1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/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0236" y="1659822"/>
            <a:ext cx="11428184" cy="3876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AI Career &amp; Research Copilot</a:t>
            </a:r>
            <a:endParaRPr lang="en-US" alt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IN" alt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SURAJ KUMAR</a:t>
            </a:r>
            <a:endParaRPr lang="en-IN" altLang="en-US" sz="24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alt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 Series ID: T9986</a:t>
            </a:r>
            <a:endParaRPr lang="en-US" altLang="en-US" sz="24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/>
                <a:gridCol w="6119608"/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55905" y="1271270"/>
            <a:ext cx="11779885" cy="518287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b="0" dirty="0">
                <a:solidFill>
                  <a:srgbClr val="5583D1"/>
                </a:solidFill>
                <a:latin typeface="Calibri" panose="020F0502020204030204" pitchFamily="34" charset="0"/>
              </a:rPr>
              <a:t>Students and professionals often struggle to identify skill gaps between their profiles and job requirements.</a:t>
            </a:r>
            <a:endParaRPr lang="en-US" altLang="en-US" b="0" dirty="0">
              <a:solidFill>
                <a:srgbClr val="5583D1"/>
              </a:solidFill>
              <a:latin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b="0" dirty="0">
                <a:solidFill>
                  <a:srgbClr val="5583D1"/>
                </a:solidFill>
                <a:latin typeface="Calibri" panose="020F0502020204030204" pitchFamily="34" charset="0"/>
              </a:rPr>
              <a:t>Researchers also spend significant time manually understanding papers, methodologies, limitations, and research gaps.</a:t>
            </a:r>
            <a:endParaRPr lang="en-US" altLang="en-US" b="0" dirty="0">
              <a:solidFill>
                <a:srgbClr val="5583D1"/>
              </a:solidFill>
              <a:latin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b="0" dirty="0">
                <a:solidFill>
                  <a:srgbClr val="5583D1"/>
                </a:solidFill>
                <a:latin typeface="Calibri" panose="020F0502020204030204" pitchFamily="34" charset="0"/>
              </a:rPr>
              <a:t>Existing platforms often provide generic recommendations instead of personalized, document-based guidance.</a:t>
            </a:r>
            <a:endParaRPr lang="en-US" altLang="en-US" b="0" dirty="0">
              <a:solidFill>
                <a:srgbClr val="5583D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5996" y="502545"/>
            <a:ext cx="1062433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Problem Statement</a:t>
            </a:r>
            <a:endParaRPr kumimoji="0" lang="en-US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093893" y="57036"/>
            <a:ext cx="609810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b="1" dirty="0">
                <a:solidFill>
                  <a:prstClr val="white"/>
                </a:solidFill>
                <a:cs typeface="Calibri" panose="020F0502020204030204" pitchFamily="34" charset="0"/>
                <a:sym typeface="+mn-ea"/>
              </a:rPr>
              <a:t>AI Career &amp; Research Copilot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55905" y="1271270"/>
            <a:ext cx="11936095" cy="528510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b="0" dirty="0">
                <a:solidFill>
                  <a:srgbClr val="5583D1"/>
                </a:solidFill>
                <a:latin typeface="Calibri" panose="020F0502020204030204" pitchFamily="34" charset="0"/>
              </a:rPr>
              <a:t>Analyze resumes and job descriptions.</a:t>
            </a:r>
            <a:endParaRPr lang="en-US" altLang="en-US" b="0" dirty="0">
              <a:solidFill>
                <a:srgbClr val="5583D1"/>
              </a:solidFill>
              <a:latin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b="0" dirty="0">
                <a:solidFill>
                  <a:srgbClr val="5583D1"/>
                </a:solidFill>
                <a:latin typeface="Calibri" panose="020F0502020204030204" pitchFamily="34" charset="0"/>
              </a:rPr>
              <a:t>Identify matched and missing skills.</a:t>
            </a:r>
            <a:endParaRPr lang="en-US" altLang="en-US" b="0" dirty="0">
              <a:solidFill>
                <a:srgbClr val="5583D1"/>
              </a:solidFill>
              <a:latin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b="0" dirty="0">
                <a:solidFill>
                  <a:srgbClr val="5583D1"/>
                </a:solidFill>
                <a:latin typeface="Calibri" panose="020F0502020204030204" pitchFamily="34" charset="0"/>
              </a:rPr>
              <a:t>Calculate skill-match and ATS readiness.</a:t>
            </a:r>
            <a:endParaRPr lang="en-US" altLang="en-US" b="0" dirty="0">
              <a:solidFill>
                <a:srgbClr val="5583D1"/>
              </a:solidFill>
              <a:latin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b="0" dirty="0">
                <a:solidFill>
                  <a:srgbClr val="5583D1"/>
                </a:solidFill>
                <a:latin typeface="Calibri" panose="020F0502020204030204" pitchFamily="34" charset="0"/>
              </a:rPr>
              <a:t>Recommend courses and learning resources.</a:t>
            </a:r>
            <a:endParaRPr lang="en-US" altLang="en-US" b="0" dirty="0">
              <a:solidFill>
                <a:srgbClr val="5583D1"/>
              </a:solidFill>
              <a:latin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b="0" dirty="0">
                <a:solidFill>
                  <a:srgbClr val="5583D1"/>
                </a:solidFill>
                <a:latin typeface="Calibri" panose="020F0502020204030204" pitchFamily="34" charset="0"/>
              </a:rPr>
              <a:t>Generate personalized learning plans and interview questions.</a:t>
            </a:r>
            <a:endParaRPr lang="en-US" altLang="en-US" b="0" dirty="0">
              <a:solidFill>
                <a:srgbClr val="5583D1"/>
              </a:solidFill>
              <a:latin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b="0" dirty="0">
                <a:solidFill>
                  <a:srgbClr val="5583D1"/>
                </a:solidFill>
                <a:latin typeface="Calibri" panose="020F0502020204030204" pitchFamily="34" charset="0"/>
              </a:rPr>
              <a:t>Analyze research papers using RAG.</a:t>
            </a:r>
            <a:endParaRPr lang="en-US" altLang="en-US" b="0" dirty="0">
              <a:solidFill>
                <a:srgbClr val="5583D1"/>
              </a:solidFill>
              <a:latin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b="0" dirty="0">
                <a:solidFill>
                  <a:srgbClr val="5583D1"/>
                </a:solidFill>
                <a:latin typeface="Calibri" panose="020F0502020204030204" pitchFamily="34" charset="0"/>
              </a:rPr>
              <a:t>Identify methodology, results, research gaps, limitations, and future work.</a:t>
            </a:r>
            <a:endParaRPr lang="en-US" altLang="en-US" b="0" dirty="0">
              <a:solidFill>
                <a:srgbClr val="5583D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5996" y="502545"/>
            <a:ext cx="1062433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Objectives</a:t>
            </a:r>
            <a:endParaRPr kumimoji="0" lang="en-US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093893" y="57036"/>
            <a:ext cx="609810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b="1" dirty="0">
                <a:solidFill>
                  <a:prstClr val="white"/>
                </a:solidFill>
                <a:cs typeface="Calibri" panose="020F0502020204030204" pitchFamily="34" charset="0"/>
                <a:sym typeface="+mn-ea"/>
              </a:rPr>
              <a:t>AI Career &amp; Research Copilot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55905" y="1271270"/>
            <a:ext cx="11780520" cy="51816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b="0" dirty="0">
                <a:solidFill>
                  <a:srgbClr val="5583D1"/>
                </a:solidFill>
                <a:latin typeface="Calibri" panose="020F0502020204030204" pitchFamily="34" charset="0"/>
              </a:rPr>
              <a:t>Resume PDFs</a:t>
            </a:r>
            <a:r>
              <a:rPr lang="en-IN" altLang="en-US" b="0" dirty="0">
                <a:solidFill>
                  <a:srgbClr val="5583D1"/>
                </a:solidFill>
                <a:latin typeface="Calibri" panose="020F0502020204030204" pitchFamily="34" charset="0"/>
              </a:rPr>
              <a:t>                                                                 </a:t>
            </a:r>
            <a:endParaRPr lang="en-US" altLang="en-US" b="0" dirty="0">
              <a:solidFill>
                <a:srgbClr val="5583D1"/>
              </a:solidFill>
              <a:latin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b="0" dirty="0">
                <a:solidFill>
                  <a:srgbClr val="5583D1"/>
                </a:solidFill>
                <a:latin typeface="Calibri" panose="020F0502020204030204" pitchFamily="34" charset="0"/>
              </a:rPr>
              <a:t>Job descriptions</a:t>
            </a:r>
            <a:endParaRPr lang="en-US" altLang="en-US" b="0" dirty="0">
              <a:solidFill>
                <a:srgbClr val="5583D1"/>
              </a:solidFill>
              <a:latin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b="0" dirty="0">
                <a:solidFill>
                  <a:srgbClr val="5583D1"/>
                </a:solidFill>
                <a:latin typeface="Calibri" panose="020F0502020204030204" pitchFamily="34" charset="0"/>
              </a:rPr>
              <a:t>User skill and experience information</a:t>
            </a:r>
            <a:endParaRPr lang="en-US" altLang="en-US" b="0" dirty="0">
              <a:solidFill>
                <a:srgbClr val="5583D1"/>
              </a:solidFill>
              <a:latin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b="0" dirty="0">
                <a:solidFill>
                  <a:srgbClr val="5583D1"/>
                </a:solidFill>
                <a:latin typeface="Calibri" panose="020F0502020204030204" pitchFamily="34" charset="0"/>
              </a:rPr>
              <a:t>Research paper PDFs</a:t>
            </a:r>
            <a:endParaRPr lang="en-US" altLang="en-US" b="0" dirty="0">
              <a:solidFill>
                <a:srgbClr val="5583D1"/>
              </a:solidFill>
              <a:latin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b="0" dirty="0">
                <a:solidFill>
                  <a:srgbClr val="5583D1"/>
                </a:solidFill>
                <a:latin typeface="Calibri" panose="020F0502020204030204" pitchFamily="34" charset="0"/>
              </a:rPr>
              <a:t>Technology trend information from selected public sources</a:t>
            </a:r>
            <a:endParaRPr lang="en-US" altLang="en-US" b="0" dirty="0">
              <a:solidFill>
                <a:srgbClr val="5583D1"/>
              </a:solidFill>
              <a:latin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b="0" dirty="0">
                <a:solidFill>
                  <a:srgbClr val="5583D1"/>
                </a:solidFill>
                <a:latin typeface="Calibri" panose="020F0502020204030204" pitchFamily="34" charset="0"/>
              </a:rPr>
              <a:t>Learning resource metadata</a:t>
            </a:r>
            <a:endParaRPr lang="en-US" altLang="en-US" b="0" dirty="0">
              <a:solidFill>
                <a:srgbClr val="5583D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5996" y="502545"/>
            <a:ext cx="1062433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Dataset</a:t>
            </a:r>
            <a:endParaRPr kumimoji="0" lang="en-US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093893" y="57036"/>
            <a:ext cx="609810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b="1" dirty="0">
                <a:solidFill>
                  <a:prstClr val="white"/>
                </a:solidFill>
                <a:cs typeface="Calibri" panose="020F0502020204030204" pitchFamily="34" charset="0"/>
                <a:sym typeface="+mn-ea"/>
              </a:rPr>
              <a:t>AI Career &amp; Research Copilot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2115" y="1184275"/>
            <a:ext cx="3099435" cy="30689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1432560" y="1281430"/>
            <a:ext cx="11851640" cy="535559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2400" b="0" dirty="0">
                <a:solidFill>
                  <a:srgbClr val="5583D1"/>
                </a:solidFill>
                <a:latin typeface="Calibri" panose="020F0502020204030204" pitchFamily="34" charset="0"/>
              </a:rPr>
              <a:t>Next.js</a:t>
            </a:r>
            <a:endParaRPr lang="en-US" altLang="en-US" sz="2400" b="0" dirty="0">
              <a:solidFill>
                <a:srgbClr val="5583D1"/>
              </a:solidFill>
              <a:latin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400" b="0" dirty="0">
                <a:solidFill>
                  <a:srgbClr val="5583D1"/>
                </a:solidFill>
                <a:latin typeface="Calibri" panose="020F0502020204030204" pitchFamily="34" charset="0"/>
              </a:rPr>
              <a:t>FastAPI</a:t>
            </a:r>
            <a:endParaRPr lang="en-US" altLang="en-US" sz="2400" b="0" dirty="0">
              <a:solidFill>
                <a:srgbClr val="5583D1"/>
              </a:solidFill>
              <a:latin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400" b="0" dirty="0">
                <a:solidFill>
                  <a:srgbClr val="5583D1"/>
                </a:solidFill>
                <a:latin typeface="Calibri" panose="020F0502020204030204" pitchFamily="34" charset="0"/>
              </a:rPr>
              <a:t>Python</a:t>
            </a:r>
            <a:endParaRPr lang="en-US" altLang="en-US" sz="2400" b="0" dirty="0">
              <a:solidFill>
                <a:srgbClr val="5583D1"/>
              </a:solidFill>
              <a:latin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400" b="0" dirty="0">
                <a:solidFill>
                  <a:srgbClr val="5583D1"/>
                </a:solidFill>
                <a:latin typeface="Calibri" panose="020F0502020204030204" pitchFamily="34" charset="0"/>
              </a:rPr>
              <a:t>Gemini</a:t>
            </a:r>
            <a:endParaRPr lang="en-US" altLang="en-US" sz="2400" b="0" dirty="0">
              <a:solidFill>
                <a:srgbClr val="5583D1"/>
              </a:solidFill>
              <a:latin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400" b="0" dirty="0">
                <a:solidFill>
                  <a:srgbClr val="5583D1"/>
                </a:solidFill>
                <a:latin typeface="Calibri" panose="020F0502020204030204" pitchFamily="34" charset="0"/>
              </a:rPr>
              <a:t>LangChain</a:t>
            </a:r>
            <a:endParaRPr lang="en-US" altLang="en-US" sz="2400" b="0" dirty="0">
              <a:solidFill>
                <a:srgbClr val="5583D1"/>
              </a:solidFill>
              <a:latin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400" b="0" dirty="0">
                <a:solidFill>
                  <a:srgbClr val="5583D1"/>
                </a:solidFill>
                <a:latin typeface="Calibri" panose="020F0502020204030204" pitchFamily="34" charset="0"/>
              </a:rPr>
              <a:t>ChromaDB</a:t>
            </a:r>
            <a:endParaRPr lang="en-US" altLang="en-US" sz="2400" b="0" dirty="0">
              <a:solidFill>
                <a:srgbClr val="5583D1"/>
              </a:solidFill>
              <a:latin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400" b="0" dirty="0">
                <a:solidFill>
                  <a:srgbClr val="5583D1"/>
                </a:solidFill>
                <a:latin typeface="Calibri" panose="020F0502020204030204" pitchFamily="34" charset="0"/>
              </a:rPr>
              <a:t>PostgreSQL</a:t>
            </a:r>
            <a:endParaRPr lang="en-US" altLang="en-US" sz="2400" b="0" dirty="0">
              <a:solidFill>
                <a:srgbClr val="5583D1"/>
              </a:solidFill>
              <a:latin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400" b="0" dirty="0">
                <a:solidFill>
                  <a:srgbClr val="5583D1"/>
                </a:solidFill>
                <a:latin typeface="Calibri" panose="020F0502020204030204" pitchFamily="34" charset="0"/>
              </a:rPr>
              <a:t>REST APIs</a:t>
            </a:r>
            <a:endParaRPr lang="en-US" altLang="en-US" sz="2400" b="0" dirty="0">
              <a:solidFill>
                <a:srgbClr val="5583D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5996" y="502545"/>
            <a:ext cx="1062433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Technical Stack</a:t>
            </a:r>
            <a:endParaRPr kumimoji="0" lang="en-US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093893" y="57036"/>
            <a:ext cx="609810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b="1" dirty="0">
                <a:solidFill>
                  <a:prstClr val="white"/>
                </a:solidFill>
                <a:cs typeface="Calibri" panose="020F0502020204030204" pitchFamily="34" charset="0"/>
                <a:sym typeface="+mn-ea"/>
              </a:rPr>
              <a:t>AI Career &amp; Research Copilot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5025" y="1804035"/>
            <a:ext cx="3828415" cy="38798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55905" y="1271270"/>
            <a:ext cx="11657965" cy="52546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b="0" dirty="0">
                <a:solidFill>
                  <a:srgbClr val="5583D1"/>
                </a:solidFill>
                <a:latin typeface="Calibri" panose="020F0502020204030204" pitchFamily="34" charset="0"/>
              </a:rPr>
              <a:t>Personalized career guidance for freshers and experienced professionals.</a:t>
            </a:r>
            <a:endParaRPr lang="en-US" altLang="en-US" b="0" dirty="0">
              <a:solidFill>
                <a:srgbClr val="5583D1"/>
              </a:solidFill>
              <a:latin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b="0" dirty="0">
                <a:solidFill>
                  <a:srgbClr val="5583D1"/>
                </a:solidFill>
                <a:latin typeface="Calibri" panose="020F0502020204030204" pitchFamily="34" charset="0"/>
              </a:rPr>
              <a:t>Automatic skill-gap and resume analysis.</a:t>
            </a:r>
            <a:endParaRPr lang="en-US" altLang="en-US" b="0" dirty="0">
              <a:solidFill>
                <a:srgbClr val="5583D1"/>
              </a:solidFill>
              <a:latin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b="0" dirty="0">
                <a:solidFill>
                  <a:srgbClr val="5583D1"/>
                </a:solidFill>
                <a:latin typeface="Calibri" panose="020F0502020204030204" pitchFamily="34" charset="0"/>
              </a:rPr>
              <a:t>Customized learning roadmap and interview preparation.</a:t>
            </a:r>
            <a:endParaRPr lang="en-US" altLang="en-US" b="0" dirty="0">
              <a:solidFill>
                <a:srgbClr val="5583D1"/>
              </a:solidFill>
              <a:latin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b="0" dirty="0">
                <a:solidFill>
                  <a:srgbClr val="5583D1"/>
                </a:solidFill>
                <a:latin typeface="Calibri" panose="020F0502020204030204" pitchFamily="34" charset="0"/>
              </a:rPr>
              <a:t>Research-paper question answering using RAG.</a:t>
            </a:r>
            <a:endParaRPr lang="en-US" altLang="en-US" b="0" dirty="0">
              <a:solidFill>
                <a:srgbClr val="5583D1"/>
              </a:solidFill>
              <a:latin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b="0" dirty="0">
                <a:solidFill>
                  <a:srgbClr val="5583D1"/>
                </a:solidFill>
                <a:latin typeface="Calibri" panose="020F0502020204030204" pitchFamily="34" charset="0"/>
              </a:rPr>
              <a:t>Identification of research gaps and future scope.</a:t>
            </a:r>
            <a:endParaRPr lang="en-US" altLang="en-US" b="0" dirty="0">
              <a:solidFill>
                <a:srgbClr val="5583D1"/>
              </a:solidFill>
              <a:latin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b="0" dirty="0">
                <a:solidFill>
                  <a:srgbClr val="5583D1"/>
                </a:solidFill>
                <a:latin typeface="Calibri" panose="020F0502020204030204" pitchFamily="34" charset="0"/>
              </a:rPr>
              <a:t>Evidence-grounded AI recommendations with next-best actions.</a:t>
            </a:r>
            <a:endParaRPr lang="en-US" altLang="en-US" b="0" dirty="0">
              <a:solidFill>
                <a:srgbClr val="5583D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5996" y="502545"/>
            <a:ext cx="10624338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Expected Outcome</a:t>
            </a:r>
            <a:endParaRPr kumimoji="0" lang="en-US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093893" y="57036"/>
            <a:ext cx="609810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b="1" dirty="0">
                <a:solidFill>
                  <a:prstClr val="white"/>
                </a:solidFill>
                <a:cs typeface="Calibri" panose="020F0502020204030204" pitchFamily="34" charset="0"/>
                <a:sym typeface="+mn-ea"/>
              </a:rPr>
              <a:t>AI Career &amp; Research Copilot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1736</Words>
  <Application>WPS Presentation</Application>
  <PresentationFormat>Widescreen</PresentationFormat>
  <Paragraphs>79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1" baseType="lpstr">
      <vt:lpstr>Arial</vt:lpstr>
      <vt:lpstr>SimSun</vt:lpstr>
      <vt:lpstr>Wingdings</vt:lpstr>
      <vt:lpstr>Calibri (Body)</vt:lpstr>
      <vt:lpstr>Frutiger 45 bold</vt:lpstr>
      <vt:lpstr>Segoe Print</vt:lpstr>
      <vt:lpstr>Calibri</vt:lpstr>
      <vt:lpstr>Frutiger LT Pro 45 Light</vt:lpstr>
      <vt:lpstr>Calibri</vt:lpstr>
      <vt:lpstr>source-serif-pro</vt:lpstr>
      <vt:lpstr>Calibri Light</vt:lpstr>
      <vt:lpstr>Yu Gothic UI Semilight</vt:lpstr>
      <vt:lpstr>Microsoft YaHei</vt:lpstr>
      <vt:lpstr>Arial Unicode MS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Suraj Kumar 25MML1005</cp:lastModifiedBy>
  <cp:revision>15</cp:revision>
  <dcterms:created xsi:type="dcterms:W3CDTF">2024-05-13T10:33:00Z</dcterms:created>
  <dcterms:modified xsi:type="dcterms:W3CDTF">2026-09-06T17:04:33Z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  <property fmtid="{D5CDD505-2E9C-101B-9397-08002B2CF9AE}" pid="12" name="ICV">
    <vt:lpwstr>63D6F4AB953C4699B56A56E0B4B107C8_13</vt:lpwstr>
  </property>
  <property fmtid="{D5CDD505-2E9C-101B-9397-08002B2CF9AE}" pid="13" name="KSOProductBuildVer">
    <vt:lpwstr>1033-12.1.0.28032</vt:lpwstr>
  </property>
</Properties>
</file>