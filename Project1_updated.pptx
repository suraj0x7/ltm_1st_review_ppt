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16764057" r:id="rId3"/>
    <p:sldId id="16764060" r:id="rId4"/>
    <p:sldId id="16764062" r:id="rId5"/>
    <p:sldId id="16764066" r:id="rId6"/>
    <p:sldId id="16764061" r:id="rId7"/>
    <p:sldId id="16764063" r:id="rId8"/>
    <p:sldId id="16764064" r:id="rId9"/>
    <p:sldId id="16764067" r:id="rId10"/>
    <p:sldId id="167640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436" y="4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endParaRPr lang="en-US" dirty="0"/>
          </a:p>
        </p:txBody>
      </p:sp>
      <p:sp>
        <p:nvSpPr>
          <p:cNvPr id="4" name="Text Placeholder 13"/>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microsoft.com/office/2007/relationships/hdphoto" Target="../media/image5.wdp"/><Relationship Id="rId17" Type="http://schemas.openxmlformats.org/officeDocument/2006/relationships/image" Target="../media/image4.png"/><Relationship Id="rId16" Type="http://schemas.microsoft.com/office/2007/relationships/hdphoto" Target="../media/image3.wdp"/><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pic>
        <p:nvPicPr>
          <p:cNvPr id="1028" name="Picture 4" descr="LTIMindtree logo in transparent PNG and vectorized SVG formats"/>
          <p:cNvPicPr>
            <a:picLocks noChangeAspect="1" noChangeArrowheads="1"/>
          </p:cNvPicPr>
          <p:nvPr userDrawn="1"/>
        </p:nvPicPr>
        <p:blipFill>
          <a:blip r:embed="rId15">
            <a:extLst>
              <a:ext uri="{BEBA8EAE-BF5A-486C-A8C5-ECC9F3942E4B}">
                <a14:imgProps xmlns:a14="http://schemas.microsoft.com/office/drawing/2010/main">
                  <a14:imgLayer r:embed="rId16">
                    <a14:imgEffect>
                      <a14:brightnessContrast bright="-2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p:cNvSpPr txBox="1"/>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p:cNvSpPr txBox="1"/>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p:cNvSpPr txBox="1"/>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p:cNvPicPr>
            <a:picLocks noChangeAspect="1"/>
          </p:cNvPicPr>
          <p:nvPr userDrawn="1"/>
        </p:nvPicPr>
        <p:blipFill>
          <a:blip r:embed="rId17">
            <a:extLst>
              <a:ext uri="{BEBA8EAE-BF5A-486C-A8C5-ECC9F3942E4B}">
                <a14:imgProps xmlns:a14="http://schemas.microsoft.com/office/drawing/2010/main">
                  <a14:imgLayer r:embed="rId18">
                    <a14:imgEffect>
                      <a14:brightnessContrast bright="-20000" contrast="20000"/>
                    </a14:imgEffect>
                  </a14:imgLayer>
                </a14:imgProps>
              </a:ext>
            </a:extLst>
          </a:blip>
          <a:stretch>
            <a:fillRect/>
          </a:stretch>
        </p:blipFill>
        <p:spPr>
          <a:xfrm>
            <a:off x="105554" y="6358271"/>
            <a:ext cx="964436" cy="41121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 Program </a:t>
            </a:r>
            <a:endParaRPr lang="en-US" sz="4400" dirty="0">
              <a:solidFill>
                <a:schemeClr val="bg1"/>
              </a:solidFill>
            </a:endParaRPr>
          </a:p>
          <a:p>
            <a:pPr marL="0" indent="0" algn="ctr">
              <a:buNone/>
            </a:pPr>
            <a:r>
              <a:rPr lang="en-US" sz="2000" dirty="0">
                <a:solidFill>
                  <a:schemeClr val="bg1"/>
                </a:solidFill>
              </a:rPr>
              <a:t>Advanced Industry Integrated Programs</a:t>
            </a:r>
            <a:endParaRPr lang="en-US" sz="2000" dirty="0">
              <a:solidFill>
                <a:schemeClr val="bg1"/>
              </a:solidFill>
            </a:endParaRPr>
          </a:p>
        </p:txBody>
      </p:sp>
      <p:cxnSp>
        <p:nvCxnSpPr>
          <p:cNvPr id="15" name="Straight Connector 14"/>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endPar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endParaRPr>
          </a:p>
        </p:txBody>
      </p:sp>
      <p:sp>
        <p:nvSpPr>
          <p:cNvPr id="4" name="TextBox 3"/>
          <p:cNvSpPr txBox="1"/>
          <p:nvPr/>
        </p:nvSpPr>
        <p:spPr>
          <a:xfrm>
            <a:off x="180236" y="1659822"/>
            <a:ext cx="11428184" cy="498475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3600" b="1" dirty="0">
                <a:solidFill>
                  <a:prstClr val="white"/>
                </a:solidFill>
                <a:cs typeface="Calibri" panose="020F0502020204030204" pitchFamily="34" charset="0"/>
              </a:rPr>
              <a:t>Autonomous AI Employee Onboarding &amp; HR Automation Agent</a:t>
            </a:r>
            <a:endParaRPr lang="en-US" altLang="en-US" sz="3600" b="1" dirty="0">
              <a:solidFill>
                <a:prstClr val="white"/>
              </a:solidFill>
              <a:cs typeface="Calibri" panose="020F0502020204030204" pitchFamily="34" charset="0"/>
            </a:endParaRPr>
          </a:p>
          <a:p>
            <a:pPr lvl="0" algn="ctr">
              <a:defRPr/>
            </a:pPr>
            <a:endParaRPr lang="en-US" sz="3600" b="1" dirty="0">
              <a:solidFill>
                <a:prstClr val="white"/>
              </a:solidFill>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r>
              <a:rPr lang="en-IN" altLang="en-US" sz="2400" b="1" dirty="0">
                <a:solidFill>
                  <a:prstClr val="white"/>
                </a:solidFill>
                <a:cs typeface="Calibri" panose="020F0502020204030204" pitchFamily="34" charset="0"/>
              </a:rPr>
              <a:t>SURAJ KUMAR</a:t>
            </a:r>
            <a:endParaRPr lang="en-IN" altLang="en-US" sz="2400" b="1" dirty="0">
              <a:solidFill>
                <a:prstClr val="white"/>
              </a:solidFill>
              <a:cs typeface="Calibri" panose="020F0502020204030204" pitchFamily="34" charset="0"/>
            </a:endParaRPr>
          </a:p>
          <a:p>
            <a:pPr lvl="0" algn="ctr">
              <a:defRPr/>
            </a:pPr>
            <a:r>
              <a:rPr lang="en-US" altLang="en-US" sz="2400" b="1" dirty="0">
                <a:solidFill>
                  <a:prstClr val="white"/>
                </a:solidFill>
                <a:cs typeface="Calibri" panose="020F0502020204030204" pitchFamily="34" charset="0"/>
              </a:rPr>
              <a:t>T Series ID: T9986</a:t>
            </a:r>
            <a:endParaRPr lang="en-US" altLang="en-US" sz="2400" b="1" dirty="0">
              <a:solidFill>
                <a:prstClr val="white"/>
              </a:solidFill>
              <a:cs typeface="Calibri" panose="020F0502020204030204" pitchFamily="34" charset="0"/>
            </a:endParaRP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gridCol w="6119608"/>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r>
            </a:tbl>
          </a:graphicData>
        </a:graphic>
      </p:graphicFrame>
      <p:pic>
        <p:nvPicPr>
          <p:cNvPr id="8" name="Picture 7"/>
          <p:cNvPicPr>
            <a:picLocks noChangeAspect="1"/>
          </p:cNvPicPr>
          <p:nvPr/>
        </p:nvPicPr>
        <p:blipFill>
          <a:blip r:embed="rId1"/>
          <a:stretch>
            <a:fillRect/>
          </a:stretch>
        </p:blipFill>
        <p:spPr>
          <a:xfrm>
            <a:off x="9775332" y="5852667"/>
            <a:ext cx="1987468" cy="847417"/>
          </a:xfrm>
          <a:prstGeom prst="rect">
            <a:avLst/>
          </a:prstGeom>
        </p:spPr>
      </p:pic>
      <p:pic>
        <p:nvPicPr>
          <p:cNvPr id="9" name="Picture 2" descr="LTIMindtree - Technology Consulting and Digital Solutions Company"/>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0" y="5852667"/>
            <a:ext cx="3886489" cy="864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607800" cy="4868545"/>
          </a:xfrm>
        </p:spPr>
        <p:txBody>
          <a:bodyPr/>
          <a:lstStyle/>
          <a:p>
            <a:pPr>
              <a:lnSpc>
                <a:spcPct val="150000"/>
              </a:lnSpc>
            </a:pPr>
            <a:r>
              <a:rPr lang="en-US" altLang="en-US" b="0" dirty="0">
                <a:solidFill>
                  <a:srgbClr val="5583D1"/>
                </a:solidFill>
                <a:latin typeface="Calibri" panose="020F0502020204030204" pitchFamily="34" charset="0"/>
              </a:rPr>
              <a:t>HR ASSIST is an Agentic AI-based system that automates employee onboarding and repetitive HR operations.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It understands natural-language HR requests and executes tasks such as profile creation, meeting scheduling, IT tickets, asset requests, emails, and team notifications.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Using MCP-based architecture, it integrates multiple enterprise systems to reduce manual effort, improve accuracy, and speed up onboarding.</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Introduction…. </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t>Autonomous AI Employee Onboarding &amp; HR Automation Agent</a:t>
            </a: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800840" cy="5448300"/>
          </a:xfrm>
        </p:spPr>
        <p:txBody>
          <a:bodyPr/>
          <a:lstStyle/>
          <a:p>
            <a:pPr marL="0" indent="0">
              <a:lnSpc>
                <a:spcPct val="150000"/>
              </a:lnSpc>
              <a:buNone/>
            </a:pPr>
            <a:r>
              <a:rPr lang="en-US" altLang="en-US" b="0" dirty="0">
                <a:solidFill>
                  <a:srgbClr val="5583D1"/>
                </a:solidFill>
                <a:latin typeface="Calibri" panose="020F0502020204030204" pitchFamily="34" charset="0"/>
              </a:rPr>
              <a:t>Employee onboarding is a repetitive and manual process. HR teams need to coordinate with HRMS, IT helpdesk, calendar, email, procurement, and communication platforms. This takes time, increases workload, and may cause delays or missed tasks.</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Problem Statement</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pic>
        <p:nvPicPr>
          <p:cNvPr id="6" name="Picture 5"/>
          <p:cNvPicPr>
            <a:picLocks noChangeAspect="1"/>
          </p:cNvPicPr>
          <p:nvPr/>
        </p:nvPicPr>
        <p:blipFill>
          <a:blip r:embed="rId1"/>
          <a:stretch>
            <a:fillRect/>
          </a:stretch>
        </p:blipFill>
        <p:spPr>
          <a:xfrm>
            <a:off x="4913630" y="3891915"/>
            <a:ext cx="7113270" cy="2635250"/>
          </a:xfrm>
          <a:prstGeom prst="rect">
            <a:avLst/>
          </a:prstGeom>
          <a:effectLst>
            <a:innerShdw blurRad="63500" dist="50800" dir="13500000">
              <a:prstClr val="black">
                <a:alpha val="50000"/>
              </a:prstClr>
            </a:innerShdw>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pic>
        <p:nvPicPr>
          <p:cNvPr id="8" name="Picture 7" descr="hr"/>
          <p:cNvPicPr>
            <a:picLocks noChangeAspect="1"/>
          </p:cNvPicPr>
          <p:nvPr/>
        </p:nvPicPr>
        <p:blipFill>
          <a:blip r:embed="rId1"/>
          <a:stretch>
            <a:fillRect/>
          </a:stretch>
        </p:blipFill>
        <p:spPr>
          <a:xfrm>
            <a:off x="953135" y="582930"/>
            <a:ext cx="10925810" cy="56915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790680" cy="5180965"/>
          </a:xfrm>
        </p:spPr>
        <p:txBody>
          <a:bodyPr/>
          <a:lstStyle/>
          <a:p>
            <a:pPr>
              <a:lnSpc>
                <a:spcPct val="150000"/>
              </a:lnSpc>
            </a:pPr>
            <a:r>
              <a:rPr lang="en-US" altLang="en-US" b="0" dirty="0">
                <a:solidFill>
                  <a:srgbClr val="5583D1"/>
                </a:solidFill>
                <a:latin typeface="Calibri" panose="020F0502020204030204" pitchFamily="34" charset="0"/>
              </a:rPr>
              <a:t>Automate employee onboarding and repetitive HR tasks.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Understand natural-language HR requests using Agentic AI.</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Integrate HRMS, IT helpdesk, calendar, email, and communication tools through MCP.</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Reduce manual effort, processing time, and human errors.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Maintain workflow status, logs, and audit records for reliable HR automation.</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Ensure the system is scalable and extensible so new HR tools</a:t>
            </a:r>
            <a:r>
              <a:rPr lang="en-IN" altLang="en-US" b="0" dirty="0">
                <a:solidFill>
                  <a:srgbClr val="5583D1"/>
                </a:solidFill>
                <a:latin typeface="Calibri" panose="020F0502020204030204" pitchFamily="34" charset="0"/>
              </a:rPr>
              <a:t>.</a:t>
            </a:r>
            <a:endParaRPr lang="en-US" altLang="en-US" b="0" dirty="0">
              <a:solidFill>
                <a:srgbClr val="5583D1"/>
              </a:solidFill>
              <a:latin typeface="Calibri" panose="020F0502020204030204" pitchFamily="34" charset="0"/>
            </a:endParaRPr>
          </a:p>
          <a:p>
            <a:pPr>
              <a:lnSpc>
                <a:spcPct val="150000"/>
              </a:lnSpc>
            </a:pP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Objective</a:t>
            </a:r>
            <a:endParaRPr kumimoji="0" 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96" y="1271219"/>
            <a:ext cx="10624338" cy="4142989"/>
          </a:xfrm>
        </p:spPr>
        <p:txBody>
          <a:bodyPr/>
          <a:lstStyle/>
          <a:p>
            <a:pPr marL="0" indent="0">
              <a:lnSpc>
                <a:spcPct val="150000"/>
              </a:lnSpc>
              <a:buNone/>
            </a:pPr>
            <a:r>
              <a:rPr lang="en-US" altLang="en-US" b="0" dirty="0">
                <a:solidFill>
                  <a:srgbClr val="5583D1"/>
                </a:solidFill>
                <a:latin typeface="Calibri" panose="020F0502020204030204" pitchFamily="34" charset="0"/>
              </a:rPr>
              <a:t>The project uses a mock employee onboarding dataset containing employee details such as Employee ID, Name, Email, Department, Designation, Joining Date, Manager, Location, Required Assets, IT Access Needs, Meeting Details, and Onboarding Status.</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Dataset</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pic>
        <p:nvPicPr>
          <p:cNvPr id="7" name="Picture 6" descr="employes data set"/>
          <p:cNvPicPr>
            <a:picLocks noChangeAspect="1"/>
          </p:cNvPicPr>
          <p:nvPr/>
        </p:nvPicPr>
        <p:blipFill>
          <a:blip r:embed="rId1"/>
          <a:stretch>
            <a:fillRect/>
          </a:stretch>
        </p:blipFill>
        <p:spPr>
          <a:xfrm>
            <a:off x="8585835" y="3423920"/>
            <a:ext cx="3145155" cy="30270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147445"/>
            <a:ext cx="11751945" cy="5507990"/>
          </a:xfrm>
        </p:spPr>
        <p:txBody>
          <a:bodyPr/>
          <a:lstStyle/>
          <a:p>
            <a:pPr>
              <a:lnSpc>
                <a:spcPct val="150000"/>
              </a:lnSpc>
            </a:pPr>
            <a:r>
              <a:rPr lang="en-US" altLang="en-US" b="0" dirty="0">
                <a:solidFill>
                  <a:srgbClr val="5583D1"/>
                </a:solidFill>
                <a:latin typeface="Calibri" panose="020F0502020204030204" pitchFamily="34" charset="0"/>
              </a:rPr>
              <a:t>Python – Used for backend logic and automation.</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FastAPI – Handles REST APIs and backend services.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Gemini – Understands natural-language HR requests.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LangGraph – Manages multi-step workflow execution.</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MCP – Connects the AI client with tools and external services.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PostgreSQL – Stores employee data, workflow status, logs, and audit records.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External APIs – Integrate HRMS, email, calendar, IT helpdesk, and Slack/Teams.</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Technical Stack</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147445"/>
            <a:ext cx="11751945" cy="5507990"/>
          </a:xfrm>
        </p:spPr>
        <p:txBody>
          <a:bodyPr/>
          <a:lstStyle/>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Technical Stack</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pic>
        <p:nvPicPr>
          <p:cNvPr id="6" name="Picture 5" descr="tech_work_flows"/>
          <p:cNvPicPr>
            <a:picLocks noChangeAspect="1"/>
          </p:cNvPicPr>
          <p:nvPr/>
        </p:nvPicPr>
        <p:blipFill>
          <a:blip r:embed="rId1"/>
          <a:stretch>
            <a:fillRect/>
          </a:stretch>
        </p:blipFill>
        <p:spPr>
          <a:xfrm>
            <a:off x="255905" y="1172210"/>
            <a:ext cx="11752580" cy="4513580"/>
          </a:xfrm>
          <a:prstGeom prst="rect">
            <a:avLst/>
          </a:prstGeom>
          <a:effectLst>
            <a:glow rad="63500">
              <a:schemeClr val="accent2">
                <a:satMod val="175000"/>
                <a:alpha val="40000"/>
              </a:schemeClr>
            </a:glow>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55905" y="1271270"/>
            <a:ext cx="11936095" cy="5400040"/>
          </a:xfrm>
        </p:spPr>
        <p:txBody>
          <a:bodyPr/>
          <a:lstStyle/>
          <a:p>
            <a:pPr>
              <a:lnSpc>
                <a:spcPct val="150000"/>
              </a:lnSpc>
            </a:pPr>
            <a:r>
              <a:rPr lang="en-US" altLang="en-US" b="0" dirty="0">
                <a:solidFill>
                  <a:srgbClr val="5583D1"/>
                </a:solidFill>
                <a:latin typeface="Calibri" panose="020F0502020204030204" pitchFamily="34" charset="0"/>
              </a:rPr>
              <a:t>Automate the complete employee onboarding workflow from a single HR request.</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Create employee profiles and schedule onboarding meetings automatically.</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Generate IT helpdesk tickets and asset requests for new employees.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Send welcome emails and team notifications through integrated platforms.</a:t>
            </a:r>
            <a:endParaRPr lang="en-US" altLang="en-US" b="0" dirty="0">
              <a:solidFill>
                <a:srgbClr val="5583D1"/>
              </a:solidFill>
              <a:latin typeface="Calibri" panose="020F0502020204030204" pitchFamily="34" charset="0"/>
            </a:endParaRPr>
          </a:p>
          <a:p>
            <a:pPr>
              <a:lnSpc>
                <a:spcPct val="150000"/>
              </a:lnSpc>
            </a:pPr>
            <a:r>
              <a:rPr lang="en-US" altLang="en-US" b="0" dirty="0">
                <a:solidFill>
                  <a:srgbClr val="5583D1"/>
                </a:solidFill>
                <a:latin typeface="Calibri" panose="020F0502020204030204" pitchFamily="34" charset="0"/>
              </a:rPr>
              <a:t>Track task progress, workflow status, logs, and audit records for better monitoring.</a:t>
            </a:r>
            <a:endParaRPr lang="en-US" altLang="en-US" b="0" dirty="0">
              <a:solidFill>
                <a:srgbClr val="5583D1"/>
              </a:solidFill>
              <a:latin typeface="Calibri" panose="020F0502020204030204" pitchFamily="34" charset="0"/>
            </a:endParaRPr>
          </a:p>
          <a:p>
            <a:pPr marL="0" indent="0">
              <a:lnSpc>
                <a:spcPct val="150000"/>
              </a:lnSpc>
              <a:buNone/>
            </a:pPr>
            <a:endParaRPr lang="en-US" altLang="en-US" b="0" dirty="0">
              <a:solidFill>
                <a:srgbClr val="5583D1"/>
              </a:solidFill>
              <a:latin typeface="Calibri" panose="020F0502020204030204" pitchFamily="34" charset="0"/>
            </a:endParaRPr>
          </a:p>
        </p:txBody>
      </p:sp>
      <p:sp>
        <p:nvSpPr>
          <p:cNvPr id="3" name="TextBox 2"/>
          <p:cNvSpPr txBox="1"/>
          <p:nvPr/>
        </p:nvSpPr>
        <p:spPr>
          <a:xfrm>
            <a:off x="255996" y="502545"/>
            <a:ext cx="10624338"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rPr>
              <a:t>Expected Outcome</a:t>
            </a:r>
            <a:endParaRPr kumimoji="0" lang="en-US" altLang="en-US" sz="3600" b="1" i="0" u="none" strike="noStrike" kern="1200" cap="none" spc="0" normalizeH="0" baseline="0" noProof="0" dirty="0">
              <a:ln>
                <a:noFill/>
              </a:ln>
              <a:solidFill>
                <a:srgbClr val="5B9BD5">
                  <a:lumMod val="50000"/>
                </a:srgbClr>
              </a:solidFill>
              <a:effectLst/>
              <a:uLnTx/>
              <a:uFillTx/>
              <a:latin typeface="Calibri" panose="020F0502020204030204"/>
              <a:ea typeface="+mn-ea"/>
              <a:cs typeface="+mn-cs"/>
            </a:endParaRPr>
          </a:p>
        </p:txBody>
      </p:sp>
      <p:cxnSp>
        <p:nvCxnSpPr>
          <p:cNvPr id="5" name="Straight Connector 4"/>
          <p:cNvCxnSpPr/>
          <p:nvPr/>
        </p:nvCxnSpPr>
        <p:spPr>
          <a:xfrm>
            <a:off x="221274" y="1191756"/>
            <a:ext cx="730579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093893" y="57036"/>
            <a:ext cx="6098107" cy="368300"/>
          </a:xfrm>
          <a:prstGeom prst="rect">
            <a:avLst/>
          </a:prstGeom>
          <a:noFill/>
        </p:spPr>
        <p:txBody>
          <a:bodyPr wrap="square" rtlCol="0">
            <a:spAutoFit/>
          </a:bodyPr>
          <a:lstStyle/>
          <a:p>
            <a:pPr algn="r"/>
            <a:r>
              <a:rPr lang="en-US" altLang="en-US" dirty="0">
                <a:sym typeface="+mn-ea"/>
              </a:rPr>
              <a:t>Autonomous AI Employee Onboarding &amp; HR Automation Agent</a:t>
            </a:r>
            <a:endParaRPr 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2889</Words>
  <Application>WPS Presentation</Application>
  <PresentationFormat>Widescreen</PresentationFormat>
  <Paragraphs>91</Paragraphs>
  <Slides>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vt:i4>
      </vt:variant>
    </vt:vector>
  </HeadingPairs>
  <TitlesOfParts>
    <vt:vector size="23" baseType="lpstr">
      <vt:lpstr>Arial</vt:lpstr>
      <vt:lpstr>SimSun</vt:lpstr>
      <vt:lpstr>Wingdings</vt:lpstr>
      <vt:lpstr>Calibri (Body)</vt:lpstr>
      <vt:lpstr>Frutiger 45 bold</vt:lpstr>
      <vt:lpstr>Segoe Print</vt:lpstr>
      <vt:lpstr>Calibri</vt:lpstr>
      <vt:lpstr>Frutiger LT Pro 45 Light</vt:lpstr>
      <vt:lpstr>Calibri</vt:lpstr>
      <vt:lpstr>Calibri Light</vt:lpstr>
      <vt:lpstr>Yu Gothic UI Semilight</vt:lpstr>
      <vt:lpstr>Microsoft YaHei</vt:lpstr>
      <vt:lpstr>Arial Unicode MS</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Sooraj</cp:lastModifiedBy>
  <cp:revision>23</cp:revision>
  <dcterms:created xsi:type="dcterms:W3CDTF">2024-05-13T10:33:00Z</dcterms:created>
  <dcterms:modified xsi:type="dcterms:W3CDTF">2026-09-10T18:18:15Z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y fmtid="{D5CDD505-2E9C-101B-9397-08002B2CF9AE}" pid="12" name="ICV">
    <vt:lpwstr>F1C400AAD7AC4302879EE75E850822E9_13</vt:lpwstr>
  </property>
  <property fmtid="{D5CDD505-2E9C-101B-9397-08002B2CF9AE}" pid="13" name="KSOProductBuildVer">
    <vt:lpwstr>1033-12.1.0.28485</vt:lpwstr>
  </property>
</Properties>
</file>